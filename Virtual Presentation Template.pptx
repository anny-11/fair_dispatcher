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02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5D845-9FB9-4323-AECD-1E41147217E8}" v="24" dt="2026-01-29T04:37:32.806"/>
  </p1510:revLst>
</p1510:revInfo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8" autoAdjust="0"/>
    <p:restoredTop sz="94660"/>
  </p:normalViewPr>
  <p:slideViewPr>
    <p:cSldViewPr snapToGrid="0">
      <p:cViewPr varScale="1">
        <p:scale>
          <a:sx n="47" d="100"/>
          <a:sy n="47" d="100"/>
        </p:scale>
        <p:origin x="981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7c6283b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bb7c6283b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enix.tecnico.ulisboa.pt/downloadFile/844820067126700/Extended_Abstract_Francisco_Ribeiro_65839.pdf" TargetMode="External"/><Relationship Id="rId3" Type="http://schemas.openxmlformats.org/officeDocument/2006/relationships/hyperlink" Target="https://arxiv.org/pdf/1807.02987" TargetMode="External"/><Relationship Id="rId7" Type="http://schemas.openxmlformats.org/officeDocument/2006/relationships/hyperlink" Target="https://www.ijcai.org/proceedings/2024/0313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1605.08565" TargetMode="External"/><Relationship Id="rId5" Type="http://schemas.openxmlformats.org/officeDocument/2006/relationships/hyperlink" Target="https://arxiv.org/pdf/2206.14596" TargetMode="External"/><Relationship Id="rId4" Type="http://schemas.openxmlformats.org/officeDocument/2006/relationships/hyperlink" Target="https://repository.bilkent.edu.tr/items/b9ff2076-6237-4fe6-9aad-65c5d60041eb" TargetMode="External"/><Relationship Id="rId9" Type="http://schemas.openxmlformats.org/officeDocument/2006/relationships/hyperlink" Target="https://www.ijfmr.com/papers/2021/6/1212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5517000" cy="6858000"/>
          </a:xfrm>
          <a:prstGeom prst="rtTriangle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640025" y="376900"/>
            <a:ext cx="7772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Virtual</a:t>
            </a:r>
            <a:r>
              <a:rPr lang="en-US" sz="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Presentation Round</a:t>
            </a:r>
            <a:endParaRPr sz="100"/>
          </a:p>
        </p:txBody>
      </p:sp>
      <p:sp>
        <p:nvSpPr>
          <p:cNvPr id="86" name="Google Shape;86;p13"/>
          <p:cNvSpPr/>
          <p:nvPr/>
        </p:nvSpPr>
        <p:spPr>
          <a:xfrm>
            <a:off x="952500" y="4075658"/>
            <a:ext cx="47625" cy="37147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9334500" y="6400800"/>
            <a:ext cx="2857500" cy="762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9334500" y="6172200"/>
            <a:ext cx="28575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334500" y="5943600"/>
            <a:ext cx="2857500" cy="762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85459" y="1852563"/>
            <a:ext cx="8911606" cy="388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ts val="7725"/>
              </a:lnSpc>
            </a:pPr>
            <a:r>
              <a:rPr lang="en-US" sz="6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 &amp; INTELLIGENT DELIVERY DISPATCH SYSTEM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-313300" y="3428988"/>
            <a:ext cx="31404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11850" y="4163700"/>
            <a:ext cx="2552700" cy="13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Varshini N P</a:t>
            </a:r>
            <a:endParaRPr sz="18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US" sz="18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Paveethraa</a:t>
            </a:r>
            <a:r>
              <a:rPr lang="en-US" sz="1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 I</a:t>
            </a:r>
            <a:endParaRPr sz="18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Srinithya V</a:t>
            </a:r>
            <a:endParaRPr sz="18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Srithika P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Swetha S</a:t>
            </a:r>
            <a:endParaRPr sz="18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-158359" y="5647650"/>
            <a:ext cx="4798384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Coimbatore Institute of Technology</a:t>
            </a:r>
            <a:endParaRPr sz="18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11269025" y="0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2526506"/>
            <a:ext cx="49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387328"/>
            <a:ext cx="49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248150"/>
            <a:ext cx="49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5108971"/>
            <a:ext cx="49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81000"/>
            <a:ext cx="11620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571500" y="1085850"/>
            <a:ext cx="11620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D5821-83AF-D46C-B7C3-623C5B75F6E2}"/>
              </a:ext>
            </a:extLst>
          </p:cNvPr>
          <p:cNvSpPr txBox="1"/>
          <p:nvPr/>
        </p:nvSpPr>
        <p:spPr>
          <a:xfrm>
            <a:off x="428625" y="1228725"/>
            <a:ext cx="10420350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delivery dispatch systems are designed primarily to be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cost-effective,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focusing on minimizing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distance, fuel usage, and delivery time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systems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ignore driver workload balance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repeatedly assigning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or urgent routes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same drivers.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assignment does not account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delivery effort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such 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package weight, traffic conditions, road quality, number of stops, or urgency.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and high-priority deliveries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lack structured prioritization.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Absence of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 tracking and transparency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results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fatigue, dissatisfaction, and reduced efficiency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mechanism to provide fairness, flexibility, or controlled overrides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route assignment.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1" y="1282541"/>
            <a:ext cx="1034415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 Dispatch System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proposed that assigns routes based on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delivery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effort instead of only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metrics.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route is analyzed using the defined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assigned a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rank: HIGH / MEDIUM / LOW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ensuring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transparency.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maintains a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workload history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prevent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 overload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same drivers.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and urgent routes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automatically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prioritized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assignment.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may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limited route‑difficulty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adjustments using a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token‑based mechanism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are treated as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preferences.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usage can be overridden by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approval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worst cases, enabling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controlled overrides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accountability.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 ensures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fairness, efficiency, transparency, and sustainability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making it suitable for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deployment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</a:t>
            </a:r>
            <a:endParaRPr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81000"/>
            <a:ext cx="11620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 dirty="0"/>
          </a:p>
        </p:txBody>
      </p:sp>
      <p:sp>
        <p:nvSpPr>
          <p:cNvPr id="113" name="Google Shape;113;p15"/>
          <p:cNvSpPr/>
          <p:nvPr/>
        </p:nvSpPr>
        <p:spPr>
          <a:xfrm>
            <a:off x="571500" y="1085850"/>
            <a:ext cx="11620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1269025" y="0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1269025" y="13607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571500" y="381000"/>
            <a:ext cx="11620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Process Architecture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1085850"/>
            <a:ext cx="11620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9000" y="381000"/>
            <a:ext cx="762000" cy="5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11269025" y="0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diagram of a delivery dispatch system&#10;&#10;AI-generated content may be incorrect.">
            <a:extLst>
              <a:ext uri="{FF2B5EF4-FFF2-40B4-BE49-F238E27FC236}">
                <a16:creationId xmlns:a16="http://schemas.microsoft.com/office/drawing/2014/main" id="{55725CDF-EEF3-5D10-0B5D-342E901BF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6000"/>
                    </a14:imgEffect>
                  </a14:imgLayer>
                </a14:imgProps>
              </a:ext>
            </a:extLst>
          </a:blip>
          <a:srcRect l="9435" t="3187" r="4506" b="4249"/>
          <a:stretch>
            <a:fillRect/>
          </a:stretch>
        </p:blipFill>
        <p:spPr>
          <a:xfrm>
            <a:off x="3219731" y="3856576"/>
            <a:ext cx="5447736" cy="2911631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F50B181D-51C3-41A7-ABBA-E2AD93ABDF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0FA6C-6452-BD2C-72BB-D8CE6CBBA4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589" b="17892"/>
          <a:stretch>
            <a:fillRect/>
          </a:stretch>
        </p:blipFill>
        <p:spPr>
          <a:xfrm>
            <a:off x="1170568" y="1264285"/>
            <a:ext cx="9546061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571500" y="381000"/>
            <a:ext cx="11620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 dirty="0"/>
          </a:p>
        </p:txBody>
      </p:sp>
      <p:sp>
        <p:nvSpPr>
          <p:cNvPr id="130" name="Google Shape;130;p17"/>
          <p:cNvSpPr/>
          <p:nvPr/>
        </p:nvSpPr>
        <p:spPr>
          <a:xfrm>
            <a:off x="571500" y="1085850"/>
            <a:ext cx="11620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1269025" y="0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B88D40-E59D-6595-9BAC-E4789006E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828868"/>
              </p:ext>
            </p:extLst>
          </p:nvPr>
        </p:nvGraphicFramePr>
        <p:xfrm>
          <a:off x="571500" y="1278335"/>
          <a:ext cx="10420350" cy="506634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206556918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2099659697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884782000"/>
                    </a:ext>
                  </a:extLst>
                </a:gridCol>
              </a:tblGrid>
              <a:tr h="5042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/>
                        <a:t>Layer</a:t>
                      </a:r>
                      <a:endParaRPr lang="en-US" sz="18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370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/>
                        <a:t>Tech / Method</a:t>
                      </a:r>
                      <a:endParaRPr lang="en-US" sz="18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370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Purpose</a:t>
                      </a:r>
                      <a:endParaRPr lang="en-US" sz="1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37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022938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Core Platform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Python 3.x + Flask /   </a:t>
                      </a:r>
                      <a:r>
                        <a:rPr lang="en-US" sz="1800" dirty="0" err="1"/>
                        <a:t>FastAPI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Backend logic &amp; system orchestration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74942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Computation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Pandas + NumPy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Scoring, workload, fairness calculations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320383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Route Evaluation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Weighted Scoring Model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Quantifies route &amp; package difficulty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516859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Fairness Tracking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Rolling Average / EWMA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Prevents driver overload over time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20983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Scheduling Logic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Priority + Greedy + WRR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Efficient, fair route assignment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941831"/>
                  </a:ext>
                </a:extLst>
              </a:tr>
              <a:tr h="52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Rule Enforcement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Constraint-Based Rules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Fatigue limits, driver requests, admin rules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770483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Explainability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Rule-Based XAI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Transparent assignment reasoning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946990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User Interface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Streamlit</a:t>
                      </a:r>
                      <a:r>
                        <a:rPr lang="en-US" sz="1800"/>
                        <a:t> Dashboard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Driver &amp; admin interaction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266171"/>
                  </a:ext>
                </a:extLst>
              </a:tr>
              <a:tr h="504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Human Control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Admin Override Logging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Human-in-the-loop transparency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7879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571500" y="381000"/>
            <a:ext cx="11620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Novelty &amp; Differentiation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71500" y="1085850"/>
            <a:ext cx="11620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1269025" y="0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151FD6-0428-DDFB-C529-03A203806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892636"/>
              </p:ext>
            </p:extLst>
          </p:nvPr>
        </p:nvGraphicFramePr>
        <p:xfrm>
          <a:off x="571500" y="1228725"/>
          <a:ext cx="10363200" cy="5393666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56437534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2010982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67156221"/>
                    </a:ext>
                  </a:extLst>
                </a:gridCol>
              </a:tblGrid>
              <a:tr h="447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</a:p>
                  </a:txBody>
                  <a:tcPr marL="69630" marR="69630" marT="34815" marB="34815" anchor="ctr">
                    <a:solidFill>
                      <a:srgbClr val="F370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Existing Systems</a:t>
                      </a:r>
                      <a:endParaRPr lang="en-IN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30" marR="69630" marT="34815" marB="34815" anchor="ctr">
                    <a:solidFill>
                      <a:srgbClr val="F370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Novel Approach / Differentiation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30" marR="69630" marT="34815" marB="34815" anchor="ctr">
                    <a:solidFill>
                      <a:srgbClr val="F37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57008"/>
                  </a:ext>
                </a:extLst>
              </a:tr>
              <a:tr h="447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Fairness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 on daily efficiency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Balances driver effort over weeks/months</a:t>
                      </a:r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 long-term fairness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848133626"/>
                  </a:ext>
                </a:extLst>
              </a:tr>
              <a:tr h="447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Assignment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Fixed routes or proximity-based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Rotational allocation</a:t>
                      </a: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ensures exposure to all routes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478794357"/>
                  </a:ext>
                </a:extLst>
              </a:tr>
              <a:tr h="43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Input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choice or none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preference signals</a:t>
                      </a:r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(light/normal/heavy) guide assignments without breaking fairness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348681409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Difficulty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Based on distance/time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Multi-factor difficulty modeling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traffic, terrain, package weight, stops, handling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785913535"/>
                  </a:ext>
                </a:extLst>
              </a:tr>
              <a:tr h="447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 &amp; Familiarity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Relies on experienced drivers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Planned learning exposure</a:t>
                      </a:r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 new drivers on tough routes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570895232"/>
                  </a:ext>
                </a:extLst>
              </a:tr>
              <a:tr h="419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Urgency Handling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Overrides fairness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Emergency deliveries prioritized while maintaining workload balance</a:t>
                      </a:r>
                      <a:endParaRPr lang="en-US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719962211"/>
                  </a:ext>
                </a:extLst>
              </a:tr>
              <a:tr h="447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Admin Control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Unstructured manual override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Logged and bounded admin intervention</a:t>
                      </a:r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 accountability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444916388"/>
                  </a:ext>
                </a:extLst>
              </a:tr>
              <a:tr h="45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Workload Memory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historical tracking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Tracks past effort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to prevent repeated overload on same driver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2321034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571500" y="381000"/>
            <a:ext cx="1162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Inter"/>
                <a:ea typeface="Inter"/>
                <a:cs typeface="Inter"/>
                <a:sym typeface="Inter"/>
              </a:rPr>
              <a:t>References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571500" y="1085850"/>
            <a:ext cx="11620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1269025" y="0"/>
            <a:ext cx="923100" cy="6858000"/>
          </a:xfrm>
          <a:prstGeom prst="rect">
            <a:avLst/>
          </a:prstGeom>
          <a:solidFill>
            <a:srgbClr val="F37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7E7CD-52E6-59E4-CBC0-6A46B8A2888E}"/>
              </a:ext>
            </a:extLst>
          </p:cNvPr>
          <p:cNvSpPr txBox="1"/>
          <p:nvPr/>
        </p:nvSpPr>
        <p:spPr>
          <a:xfrm>
            <a:off x="571500" y="1348800"/>
            <a:ext cx="929711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Fair Task Allocation in Crowdsourced Delivery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Warwick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Fair task allocation in crowdsourced delivery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Basik, F. , Gedik, B. , </a:t>
            </a:r>
            <a:r>
              <a:rPr lang="en-IN" sz="20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Ferhatosmanoglu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H. ,Wu, K.</a:t>
            </a:r>
            <a:endParaRPr lang="en-US" sz="20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Workload Equity in Multi-Period Vehicle Routing Problems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Montreal, Canada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Workload Equity in Vehicle Routing Problems: A Survey and Analysis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Vienna, Austria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Fair Distribution of Delivery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Pennsylvania State University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UPS Network Optimization Case Study (Last-Mile Focus)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Logistics network design and delivery strategy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Strategic Role of Trucking in E-Commerce Fulfillment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Canamex</a:t>
            </a: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Carbra</a:t>
            </a: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Transportation Services, Olive Branch, Mississippi</a:t>
            </a:r>
            <a:endParaRPr lang="en-IN" sz="20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615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Anny</dc:creator>
  <cp:lastModifiedBy>Varshini N P</cp:lastModifiedBy>
  <cp:revision>4</cp:revision>
  <dcterms:modified xsi:type="dcterms:W3CDTF">2026-01-29T05:07:44Z</dcterms:modified>
</cp:coreProperties>
</file>